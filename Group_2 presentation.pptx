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86" r:id="rId4"/>
  </p:sldMasterIdLst>
  <p:notesMasterIdLst>
    <p:notesMasterId r:id="rId14"/>
  </p:notesMasterIdLst>
  <p:sldIdLst>
    <p:sldId id="266" r:id="rId5"/>
    <p:sldId id="308" r:id="rId6"/>
    <p:sldId id="309" r:id="rId7"/>
    <p:sldId id="310" r:id="rId8"/>
    <p:sldId id="311" r:id="rId9"/>
    <p:sldId id="312" r:id="rId10"/>
    <p:sldId id="313" r:id="rId11"/>
    <p:sldId id="314" r:id="rId12"/>
    <p:sldId id="31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74A4BD-7772-4828-BD21-DE733C8FEC5F}" v="16" dt="2025-12-01T08:22:47.3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19" autoAdjust="0"/>
  </p:normalViewPr>
  <p:slideViewPr>
    <p:cSldViewPr snapToGrid="0">
      <p:cViewPr varScale="1">
        <p:scale>
          <a:sx n="88" d="100"/>
          <a:sy n="88" d="100"/>
        </p:scale>
        <p:origin x="45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92CAF7-641E-404B-86F8-DC72A2D6A5EE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E9B698-0D45-4398-96B3-A9CA20E989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83922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E9B698-0D45-4398-96B3-A9CA20E98988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3559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184DA70-C731-4C70-880D-CCD4705E623C}" type="datetime1">
              <a:rPr lang="en-US" smtClean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5560" y="4883024"/>
            <a:ext cx="4047239" cy="1195538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84506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56179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1258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12/1/2025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98311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12/1/2025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019457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12/1/2025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6172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12/1/2025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75495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12/1/2025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171449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7D986-8816-4272-A432-0437A28A9828}" type="datetime1">
              <a:rPr lang="en-US" smtClean="0"/>
              <a:t>12/1/2025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5667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12/1/2025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63605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12/1/2025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15791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12/1/2025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5432242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12/1/2025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921250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12/1/2025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938122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12/1/2025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65752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9164557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9002204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4095788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62D6E202-B606-4609-B914-27C9371A1F6D}" type="datetime1">
              <a:rPr lang="en-US" smtClean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0440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7" r:id="rId1"/>
    <p:sldLayoutId id="2147483888" r:id="rId2"/>
    <p:sldLayoutId id="2147483889" r:id="rId3"/>
    <p:sldLayoutId id="2147483890" r:id="rId4"/>
    <p:sldLayoutId id="2147483891" r:id="rId5"/>
    <p:sldLayoutId id="2147483892" r:id="rId6"/>
    <p:sldLayoutId id="2147483893" r:id="rId7"/>
    <p:sldLayoutId id="2147483894" r:id="rId8"/>
    <p:sldLayoutId id="2147483895" r:id="rId9"/>
    <p:sldLayoutId id="2147483896" r:id="rId10"/>
    <p:sldLayoutId id="2147483897" r:id="rId11"/>
    <p:sldLayoutId id="2147483898" r:id="rId12"/>
    <p:sldLayoutId id="2147483899" r:id="rId13"/>
    <p:sldLayoutId id="2147483900" r:id="rId14"/>
    <p:sldLayoutId id="2147483901" r:id="rId15"/>
    <p:sldLayoutId id="2147483902" r:id="rId16"/>
    <p:sldLayoutId id="2147483903" r:id="rId17"/>
    <p:sldLayoutId id="2147483904" r:id="rId1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illustrations/thank-you-heart-font-art-227741/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8.xml"/><Relationship Id="rId5" Type="http://schemas.openxmlformats.org/officeDocument/2006/relationships/hyperlink" Target="https://formacioncontinua.ufm.edu/taller/taller-preguntas-fantasticas-y-donde-encontrarlas/" TargetMode="External"/><Relationship Id="rId4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81304" y="3213463"/>
            <a:ext cx="6000206" cy="1341119"/>
          </a:xfrm>
        </p:spPr>
        <p:txBody>
          <a:bodyPr>
            <a:normAutofit/>
          </a:bodyPr>
          <a:lstStyle/>
          <a:p>
            <a:br>
              <a:rPr lang="en-US" sz="1400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</a:br>
            <a:br>
              <a:rPr lang="en-US" sz="13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</a:br>
            <a:r>
              <a:rPr lang="en-US" sz="1300" dirty="0">
                <a:solidFill>
                  <a:srgbClr val="7030A0"/>
                </a:solidFill>
                <a:latin typeface="Arial Black" panose="020B0A04020102020204" pitchFamily="34" charset="0"/>
              </a:rPr>
              <a:t>Keyword Extraction Tool (</a:t>
            </a:r>
            <a:r>
              <a:rPr lang="en-US" sz="1300" dirty="0" err="1">
                <a:solidFill>
                  <a:srgbClr val="7030A0"/>
                </a:solidFill>
                <a:latin typeface="Arial Black" panose="020B0A04020102020204" pitchFamily="34" charset="0"/>
              </a:rPr>
              <a:t>Streamlit</a:t>
            </a:r>
            <a:r>
              <a:rPr lang="en-US" sz="1300" dirty="0">
                <a:solidFill>
                  <a:srgbClr val="7030A0"/>
                </a:solidFill>
                <a:latin typeface="Arial Black" panose="020B0A04020102020204" pitchFamily="34" charset="0"/>
              </a:rPr>
              <a:t> + </a:t>
            </a:r>
            <a:r>
              <a:rPr lang="en-US" sz="1300" dirty="0" err="1">
                <a:solidFill>
                  <a:srgbClr val="7030A0"/>
                </a:solidFill>
                <a:latin typeface="Arial Black" panose="020B0A04020102020204" pitchFamily="34" charset="0"/>
              </a:rPr>
              <a:t>Gensim</a:t>
            </a:r>
            <a:r>
              <a:rPr lang="en-US" sz="1300" dirty="0">
                <a:solidFill>
                  <a:srgbClr val="7030A0"/>
                </a:solidFill>
                <a:latin typeface="Arial Black" panose="020B0A04020102020204" pitchFamily="34" charset="0"/>
              </a:rPr>
              <a:t>/YAKE</a:t>
            </a:r>
            <a:r>
              <a:rPr lang="en-US" sz="1400" dirty="0">
                <a:solidFill>
                  <a:srgbClr val="7030A0"/>
                </a:solidFill>
                <a:latin typeface="Arial Black" panose="020B0A04020102020204" pitchFamily="34" charset="0"/>
              </a:rPr>
              <a:t>)</a:t>
            </a:r>
            <a:br>
              <a:rPr lang="en-US" sz="1400" dirty="0">
                <a:solidFill>
                  <a:srgbClr val="7030A0"/>
                </a:solidFill>
                <a:latin typeface="Arial Black" panose="020B0A04020102020204" pitchFamily="34" charset="0"/>
              </a:rPr>
            </a:br>
            <a:br>
              <a:rPr lang="en-US" sz="1800" dirty="0">
                <a:solidFill>
                  <a:srgbClr val="7030A0"/>
                </a:solidFill>
              </a:rPr>
            </a:br>
            <a:endParaRPr lang="en-US" sz="1800" dirty="0">
              <a:solidFill>
                <a:srgbClr val="7030A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40CBE3-3F91-419A-A649-32AB388EC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10"/>
            <a:ext cx="481584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915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77DF4B6-876E-0FB5-7E07-7D03B03767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635" y="426720"/>
            <a:ext cx="10816046" cy="5442372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002060"/>
                </a:solidFill>
                <a:latin typeface="Arial Black" panose="020B0A04020102020204" pitchFamily="34" charset="0"/>
              </a:rPr>
              <a:t>Group Members:</a:t>
            </a:r>
          </a:p>
          <a:p>
            <a:r>
              <a:rPr lang="en-IN" b="1" dirty="0">
                <a:solidFill>
                  <a:srgbClr val="002060"/>
                </a:solidFill>
                <a:latin typeface="Arial Black" panose="020B0A04020102020204" pitchFamily="34" charset="0"/>
              </a:rPr>
              <a:t>Ankit Mittal (AP23110010537)</a:t>
            </a:r>
          </a:p>
          <a:p>
            <a:r>
              <a:rPr lang="en-IN" b="1" dirty="0">
                <a:solidFill>
                  <a:srgbClr val="002060"/>
                </a:solidFill>
                <a:latin typeface="Arial Black" panose="020B0A04020102020204" pitchFamily="34" charset="0"/>
              </a:rPr>
              <a:t>Chitrasen Singh (AP23110010151)</a:t>
            </a:r>
          </a:p>
          <a:p>
            <a:r>
              <a:rPr lang="en-IN" b="1" dirty="0">
                <a:solidFill>
                  <a:srgbClr val="002060"/>
                </a:solidFill>
                <a:latin typeface="Arial Black" panose="020B0A04020102020204" pitchFamily="34" charset="0"/>
              </a:rPr>
              <a:t>Ratan Raj (AP23110010515)</a:t>
            </a:r>
          </a:p>
          <a:p>
            <a:r>
              <a:rPr lang="en-IN" b="1" dirty="0">
                <a:solidFill>
                  <a:srgbClr val="002060"/>
                </a:solidFill>
                <a:latin typeface="Arial Black" panose="020B0A04020102020204" pitchFamily="34" charset="0"/>
              </a:rPr>
              <a:t>Karunya </a:t>
            </a:r>
            <a:r>
              <a:rPr lang="en-IN" b="1" dirty="0" err="1">
                <a:solidFill>
                  <a:srgbClr val="002060"/>
                </a:solidFill>
                <a:latin typeface="Arial Black" panose="020B0A04020102020204" pitchFamily="34" charset="0"/>
              </a:rPr>
              <a:t>kalkhundiya</a:t>
            </a:r>
            <a:r>
              <a:rPr lang="en-IN" b="1" dirty="0">
                <a:solidFill>
                  <a:srgbClr val="002060"/>
                </a:solidFill>
                <a:latin typeface="Arial Black" panose="020B0A04020102020204" pitchFamily="34" charset="0"/>
              </a:rPr>
              <a:t> (AP23110010199)</a:t>
            </a:r>
          </a:p>
          <a:p>
            <a:r>
              <a:rPr lang="en-IN" b="1" dirty="0" err="1">
                <a:solidFill>
                  <a:srgbClr val="002060"/>
                </a:solidFill>
                <a:latin typeface="Arial Black" panose="020B0A04020102020204" pitchFamily="34" charset="0"/>
              </a:rPr>
              <a:t>R.Varshitha</a:t>
            </a:r>
            <a:r>
              <a:rPr lang="en-IN" b="1" dirty="0">
                <a:solidFill>
                  <a:srgbClr val="002060"/>
                </a:solidFill>
                <a:latin typeface="Arial Black" panose="020B0A04020102020204" pitchFamily="34" charset="0"/>
              </a:rPr>
              <a:t> Sree (AP23110010774)</a:t>
            </a:r>
          </a:p>
          <a:p>
            <a:endParaRPr lang="en-IN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522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EC2DF-7346-88C6-D3D7-3D7080693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dirty="0"/>
              <a:t>Problem Statement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A03FFD-1334-53BF-B87C-DD41CBF225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615" y="1837766"/>
            <a:ext cx="10903070" cy="3536820"/>
          </a:xfrm>
        </p:spPr>
        <p:txBody>
          <a:bodyPr>
            <a:normAutofit fontScale="55000" lnSpcReduction="2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b="1" dirty="0">
                <a:solidFill>
                  <a:srgbClr val="00B050"/>
                </a:solidFill>
                <a:latin typeface="Arial Black" panose="020B0A04020102020204" pitchFamily="34" charset="0"/>
              </a:rPr>
              <a:t>Processing large text manually to identify important keywords is: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b="1" dirty="0">
                <a:solidFill>
                  <a:srgbClr val="00B050"/>
                </a:solidFill>
                <a:latin typeface="Arial Black" panose="020B0A04020102020204" pitchFamily="34" charset="0"/>
              </a:rPr>
              <a:t>Time-consuming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b="1" dirty="0">
                <a:solidFill>
                  <a:srgbClr val="00B050"/>
                </a:solidFill>
                <a:latin typeface="Arial Black" panose="020B0A04020102020204" pitchFamily="34" charset="0"/>
              </a:rPr>
              <a:t>Error-prone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b="1" dirty="0">
                <a:solidFill>
                  <a:srgbClr val="00B050"/>
                </a:solidFill>
                <a:latin typeface="Arial Black" panose="020B0A04020102020204" pitchFamily="34" charset="0"/>
              </a:rPr>
              <a:t>Difficult for non-technical users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b="1" dirty="0">
                <a:solidFill>
                  <a:srgbClr val="00B050"/>
                </a:solidFill>
                <a:latin typeface="Arial Black" panose="020B0A04020102020204" pitchFamily="34" charset="0"/>
              </a:rPr>
              <a:t>Not scalable for large documents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b="1" dirty="0">
                <a:solidFill>
                  <a:srgbClr val="00B050"/>
                </a:solidFill>
                <a:latin typeface="Arial Black" panose="020B0A04020102020204" pitchFamily="34" charset="0"/>
              </a:rPr>
              <a:t>Objectives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b="1" dirty="0">
                <a:solidFill>
                  <a:srgbClr val="00B050"/>
                </a:solidFill>
                <a:latin typeface="Arial Black" panose="020B0A04020102020204" pitchFamily="34" charset="0"/>
              </a:rPr>
              <a:t>Build a user-friendly tool to automatically extract keywords.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b="1" dirty="0">
                <a:solidFill>
                  <a:srgbClr val="00B050"/>
                </a:solidFill>
                <a:latin typeface="Arial Black" panose="020B0A04020102020204" pitchFamily="34" charset="0"/>
              </a:rPr>
              <a:t>Provide accurate keyword extraction using NLP methods.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b="1" dirty="0">
                <a:solidFill>
                  <a:srgbClr val="00B050"/>
                </a:solidFill>
                <a:latin typeface="Arial Black" panose="020B0A04020102020204" pitchFamily="34" charset="0"/>
              </a:rPr>
              <a:t>Ensure compatibility across Python versions using: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IN" b="1" dirty="0" err="1">
                <a:solidFill>
                  <a:srgbClr val="00B050"/>
                </a:solidFill>
                <a:latin typeface="Arial Black" panose="020B0A04020102020204" pitchFamily="34" charset="0"/>
              </a:rPr>
              <a:t>Gensim</a:t>
            </a:r>
            <a:r>
              <a:rPr lang="en-IN" b="1" dirty="0">
                <a:solidFill>
                  <a:srgbClr val="00B050"/>
                </a:solidFill>
                <a:latin typeface="Arial Black" panose="020B0A04020102020204" pitchFamily="34" charset="0"/>
              </a:rPr>
              <a:t> Summarization (legacy)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IN" b="1" dirty="0">
                <a:solidFill>
                  <a:srgbClr val="00B050"/>
                </a:solidFill>
                <a:latin typeface="Arial Black" panose="020B0A04020102020204" pitchFamily="34" charset="0"/>
              </a:rPr>
              <a:t>YAKE (modern fallback)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b="1" dirty="0">
                <a:solidFill>
                  <a:srgbClr val="00B050"/>
                </a:solidFill>
                <a:latin typeface="Arial Black" panose="020B0A04020102020204" pitchFamily="34" charset="0"/>
              </a:rPr>
              <a:t>Deliver a fast, lightweight </a:t>
            </a:r>
            <a:r>
              <a:rPr lang="en-IN" b="1" dirty="0" err="1">
                <a:solidFill>
                  <a:srgbClr val="00B050"/>
                </a:solidFill>
                <a:latin typeface="Arial Black" panose="020B0A04020102020204" pitchFamily="34" charset="0"/>
              </a:rPr>
              <a:t>Streamlit</a:t>
            </a:r>
            <a:r>
              <a:rPr lang="en-IN" b="1" dirty="0">
                <a:solidFill>
                  <a:srgbClr val="00B050"/>
                </a:solidFill>
                <a:latin typeface="Arial Black" panose="020B0A04020102020204" pitchFamily="34" charset="0"/>
              </a:rPr>
              <a:t>-based web interface.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6973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1CBC2-3952-47AA-1EBA-A66836C02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4400" b="1" dirty="0">
                <a:latin typeface="Baskerville Old Face" panose="02020602080505020303" pitchFamily="18" charset="0"/>
              </a:rPr>
              <a:t>Proposed Solution &amp;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1DEBF-82FD-E840-0344-EDBF49ED11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572" y="1632858"/>
            <a:ext cx="10756112" cy="3741728"/>
          </a:xfrm>
        </p:spPr>
        <p:txBody>
          <a:bodyPr>
            <a:normAutofit fontScale="550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Proposed Solution</a:t>
            </a:r>
          </a:p>
          <a:p>
            <a:r>
              <a:rPr 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A </a:t>
            </a:r>
            <a:r>
              <a:rPr lang="en-US" dirty="0" err="1">
                <a:solidFill>
                  <a:srgbClr val="0070C0"/>
                </a:solidFill>
                <a:latin typeface="Arial Black" panose="020B0A04020102020204" pitchFamily="34" charset="0"/>
              </a:rPr>
              <a:t>Streamlit</a:t>
            </a:r>
            <a:r>
              <a:rPr 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 web application that extracts keywords using:</a:t>
            </a:r>
          </a:p>
          <a:p>
            <a:r>
              <a:rPr lang="en-US" dirty="0" err="1">
                <a:solidFill>
                  <a:srgbClr val="0070C0"/>
                </a:solidFill>
                <a:latin typeface="Arial Black" panose="020B0A04020102020204" pitchFamily="34" charset="0"/>
              </a:rPr>
              <a:t>Gensim</a:t>
            </a:r>
            <a:r>
              <a:rPr 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Arial Black" panose="020B0A04020102020204" pitchFamily="34" charset="0"/>
              </a:rPr>
              <a:t>TextRank</a:t>
            </a:r>
            <a:r>
              <a:rPr 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 (if available)</a:t>
            </a:r>
          </a:p>
          <a:p>
            <a:r>
              <a:rPr 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YAKE Statistical Extractor (fallback)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Workflow</a:t>
            </a:r>
          </a:p>
          <a:p>
            <a:r>
              <a:rPr 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User inputs text into the web app.</a:t>
            </a:r>
          </a:p>
          <a:p>
            <a:r>
              <a:rPr 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Program checks extraction backend: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If </a:t>
            </a:r>
            <a:r>
              <a:rPr lang="en-US" dirty="0" err="1">
                <a:solidFill>
                  <a:srgbClr val="0070C0"/>
                </a:solidFill>
                <a:latin typeface="Arial Black" panose="020B0A04020102020204" pitchFamily="34" charset="0"/>
              </a:rPr>
              <a:t>Gensim</a:t>
            </a:r>
            <a:r>
              <a:rPr 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 is installed → use </a:t>
            </a:r>
            <a:r>
              <a:rPr lang="en-US" dirty="0" err="1">
                <a:solidFill>
                  <a:srgbClr val="0070C0"/>
                </a:solidFill>
                <a:latin typeface="Arial Black" panose="020B0A04020102020204" pitchFamily="34" charset="0"/>
              </a:rPr>
              <a:t>TextRank</a:t>
            </a:r>
            <a:endParaRPr lang="en-US" dirty="0">
              <a:solidFill>
                <a:srgbClr val="0070C0"/>
              </a:solidFill>
              <a:latin typeface="Arial Black" panose="020B0A04020102020204" pitchFamily="34" charset="0"/>
            </a:endParaRPr>
          </a:p>
          <a:p>
            <a:pPr marL="800100" lvl="1" indent="-342900">
              <a:buFont typeface="+mj-lt"/>
              <a:buAutoNum type="alphaLcParenR"/>
            </a:pPr>
            <a:r>
              <a:rPr 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Else → use YAKE</a:t>
            </a:r>
          </a:p>
          <a:p>
            <a:r>
              <a:rPr 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Keywords are extracted, cleaned, and ranked.</a:t>
            </a:r>
          </a:p>
          <a:p>
            <a:r>
              <a:rPr 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Results are displayed: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Bullet list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Comma-separated list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3077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6FD8D-9926-AE47-4EF4-D87F53DED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Dataset &amp;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5142D-679A-FD42-675D-695E70FE24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b="1" dirty="0">
                <a:solidFill>
                  <a:schemeClr val="accent4">
                    <a:lumMod val="50000"/>
                  </a:schemeClr>
                </a:solidFill>
                <a:latin typeface="Arial Black" panose="020B0A04020102020204" pitchFamily="34" charset="0"/>
              </a:rPr>
              <a:t>Dataset</a:t>
            </a:r>
          </a:p>
          <a:p>
            <a:r>
              <a:rPr lang="en-IN" b="1" dirty="0">
                <a:solidFill>
                  <a:schemeClr val="accent4">
                    <a:lumMod val="50000"/>
                  </a:schemeClr>
                </a:solidFill>
                <a:latin typeface="Arial Black" panose="020B0A04020102020204" pitchFamily="34" charset="0"/>
              </a:rPr>
              <a:t>No fixed dataset</a:t>
            </a:r>
          </a:p>
          <a:p>
            <a:r>
              <a:rPr lang="en-IN" b="1" dirty="0">
                <a:solidFill>
                  <a:schemeClr val="accent4">
                    <a:lumMod val="50000"/>
                  </a:schemeClr>
                </a:solidFill>
                <a:latin typeface="Arial Black" panose="020B0A04020102020204" pitchFamily="34" charset="0"/>
              </a:rPr>
              <a:t>The tool works on any user-entered text, ensuring flexibility.</a:t>
            </a:r>
          </a:p>
          <a:p>
            <a:r>
              <a:rPr lang="en-IN" b="1" dirty="0">
                <a:solidFill>
                  <a:schemeClr val="accent4">
                    <a:lumMod val="50000"/>
                  </a:schemeClr>
                </a:solidFill>
                <a:latin typeface="Arial Black" panose="020B0A04020102020204" pitchFamily="34" charset="0"/>
              </a:rPr>
              <a:t>Methodology</a:t>
            </a:r>
          </a:p>
          <a:p>
            <a:r>
              <a:rPr lang="en-IN" b="1" dirty="0">
                <a:solidFill>
                  <a:schemeClr val="accent4">
                    <a:lumMod val="50000"/>
                  </a:schemeClr>
                </a:solidFill>
                <a:latin typeface="Arial Black" panose="020B0A04020102020204" pitchFamily="34" charset="0"/>
              </a:rPr>
              <a:t>Read &amp; validate user input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b="1" dirty="0">
                <a:solidFill>
                  <a:schemeClr val="accent4">
                    <a:lumMod val="50000"/>
                  </a:schemeClr>
                </a:solidFill>
                <a:latin typeface="Arial Black" panose="020B0A04020102020204" pitchFamily="34" charset="0"/>
              </a:rPr>
              <a:t>Extract keywords using one of two algorithms: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IN" b="1" dirty="0" err="1">
                <a:solidFill>
                  <a:schemeClr val="accent4">
                    <a:lumMod val="50000"/>
                  </a:schemeClr>
                </a:solidFill>
                <a:latin typeface="Arial Black" panose="020B0A04020102020204" pitchFamily="34" charset="0"/>
              </a:rPr>
              <a:t>Gensim</a:t>
            </a:r>
            <a:r>
              <a:rPr lang="en-IN" b="1" dirty="0">
                <a:solidFill>
                  <a:schemeClr val="accent4">
                    <a:lumMod val="50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lang="en-IN" b="1" dirty="0" err="1">
                <a:solidFill>
                  <a:schemeClr val="accent4">
                    <a:lumMod val="50000"/>
                  </a:schemeClr>
                </a:solidFill>
                <a:latin typeface="Arial Black" panose="020B0A04020102020204" pitchFamily="34" charset="0"/>
              </a:rPr>
              <a:t>TextRank</a:t>
            </a:r>
            <a:r>
              <a:rPr lang="en-IN" b="1" dirty="0">
                <a:solidFill>
                  <a:schemeClr val="accent4">
                    <a:lumMod val="50000"/>
                  </a:schemeClr>
                </a:solidFill>
                <a:latin typeface="Arial Black" panose="020B0A04020102020204" pitchFamily="34" charset="0"/>
              </a:rPr>
              <a:t> (graph-based ranking)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IN" b="1" dirty="0">
                <a:solidFill>
                  <a:schemeClr val="accent4">
                    <a:lumMod val="50000"/>
                  </a:schemeClr>
                </a:solidFill>
                <a:latin typeface="Arial Black" panose="020B0A04020102020204" pitchFamily="34" charset="0"/>
              </a:rPr>
              <a:t>YAKE (statistical scoring)</a:t>
            </a:r>
          </a:p>
          <a:p>
            <a:r>
              <a:rPr lang="en-IN" b="1" dirty="0">
                <a:solidFill>
                  <a:schemeClr val="accent4">
                    <a:lumMod val="50000"/>
                  </a:schemeClr>
                </a:solidFill>
                <a:latin typeface="Arial Black" panose="020B0A04020102020204" pitchFamily="34" charset="0"/>
              </a:rPr>
              <a:t>Filter repeated/empty keywords</a:t>
            </a:r>
          </a:p>
          <a:p>
            <a:r>
              <a:rPr lang="en-IN" b="1" dirty="0">
                <a:solidFill>
                  <a:schemeClr val="accent4">
                    <a:lumMod val="50000"/>
                  </a:schemeClr>
                </a:solidFill>
                <a:latin typeface="Arial Black" panose="020B0A04020102020204" pitchFamily="34" charset="0"/>
              </a:rPr>
              <a:t>Display structured output</a:t>
            </a:r>
          </a:p>
          <a:p>
            <a:r>
              <a:rPr lang="en-IN" b="1" dirty="0">
                <a:solidFill>
                  <a:schemeClr val="accent4">
                    <a:lumMod val="50000"/>
                  </a:schemeClr>
                </a:solidFill>
                <a:latin typeface="Arial Black" panose="020B0A04020102020204" pitchFamily="34" charset="0"/>
              </a:rPr>
              <a:t>Provide real-time results via </a:t>
            </a:r>
            <a:r>
              <a:rPr lang="en-IN" b="1" dirty="0" err="1">
                <a:solidFill>
                  <a:schemeClr val="accent4">
                    <a:lumMod val="50000"/>
                  </a:schemeClr>
                </a:solidFill>
                <a:latin typeface="Arial Black" panose="020B0A04020102020204" pitchFamily="34" charset="0"/>
              </a:rPr>
              <a:t>Streamlit</a:t>
            </a:r>
            <a:endParaRPr lang="en-IN" b="1" dirty="0">
              <a:solidFill>
                <a:schemeClr val="accent4">
                  <a:lumMod val="50000"/>
                </a:schemeClr>
              </a:solidFill>
              <a:latin typeface="Arial Black" panose="020B0A040201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4850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FBE5-387B-AD29-0CA2-BC87F039B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Arial Black" panose="020B0A04020102020204" pitchFamily="34" charset="0"/>
              </a:rPr>
              <a:t>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8DD56-9AD6-00E8-53D0-B34623F849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298" y="2342606"/>
            <a:ext cx="10882386" cy="3031979"/>
          </a:xfrm>
        </p:spPr>
        <p:txBody>
          <a:bodyPr>
            <a:normAutofit fontScale="55000" lnSpcReduction="20000"/>
          </a:bodyPr>
          <a:lstStyle/>
          <a:p>
            <a:r>
              <a:rPr lang="en-IN" sz="1900" b="1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Programming Language &amp; Framework</a:t>
            </a:r>
          </a:p>
          <a:p>
            <a:r>
              <a:rPr lang="en-IN" sz="1900" b="1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Python 3.x</a:t>
            </a:r>
          </a:p>
          <a:p>
            <a:r>
              <a:rPr lang="en-IN" sz="1900" b="1" dirty="0" err="1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Streamlit</a:t>
            </a:r>
            <a:r>
              <a:rPr lang="en-IN" sz="1900" b="1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 – For front-end UI</a:t>
            </a:r>
          </a:p>
          <a:p>
            <a:r>
              <a:rPr lang="en-IN" sz="1900" b="1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Libraries</a:t>
            </a:r>
          </a:p>
          <a:p>
            <a:r>
              <a:rPr lang="en-IN" sz="1900" b="1" dirty="0" err="1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Gensim</a:t>
            </a:r>
            <a:r>
              <a:rPr lang="en-IN" sz="1900" b="1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 – </a:t>
            </a:r>
            <a:r>
              <a:rPr lang="en-IN" sz="1900" b="1" dirty="0" err="1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TextRank</a:t>
            </a:r>
            <a:r>
              <a:rPr lang="en-IN" sz="1900" b="1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 algorithm for keyword extraction</a:t>
            </a:r>
          </a:p>
          <a:p>
            <a:r>
              <a:rPr lang="en-IN" sz="1900" b="1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YAKE – Modern keyword extraction fallback</a:t>
            </a:r>
          </a:p>
          <a:p>
            <a:r>
              <a:rPr lang="en-IN" sz="1900" b="1" dirty="0" err="1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Streamlit</a:t>
            </a:r>
            <a:r>
              <a:rPr lang="en-IN" sz="1900" b="1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 Widgets – Text area, buttons, outputs</a:t>
            </a:r>
          </a:p>
          <a:p>
            <a:r>
              <a:rPr lang="en-IN" sz="1900" b="1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Tools</a:t>
            </a:r>
          </a:p>
          <a:p>
            <a:r>
              <a:rPr lang="en-IN" sz="1900" b="1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Visual Studio Code</a:t>
            </a:r>
          </a:p>
          <a:p>
            <a:r>
              <a:rPr lang="en-IN" sz="1900" b="1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pip package manager</a:t>
            </a:r>
          </a:p>
          <a:p>
            <a:endParaRPr lang="en-IN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65584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C8921-A27C-0AAC-5183-C51D0D8A4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b="1" dirty="0">
                <a:latin typeface="Arial Black" panose="020B0A04020102020204" pitchFamily="34" charset="0"/>
              </a:rPr>
              <a:t>Results &amp;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E28B5A-3995-A9CC-40DB-BF9DEDEA50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70C0"/>
                </a:solidFill>
                <a:latin typeface="Arial Black" panose="020B0A04020102020204" pitchFamily="34" charset="0"/>
              </a:rPr>
              <a:t>Results</a:t>
            </a:r>
          </a:p>
          <a:p>
            <a:r>
              <a:rPr lang="en-US" b="1" dirty="0">
                <a:solidFill>
                  <a:srgbClr val="0070C0"/>
                </a:solidFill>
                <a:latin typeface="Arial Black" panose="020B0A04020102020204" pitchFamily="34" charset="0"/>
              </a:rPr>
              <a:t>Extracts meaningful and relevant keywords from any text.</a:t>
            </a:r>
          </a:p>
          <a:p>
            <a:r>
              <a:rPr lang="en-US" b="1" dirty="0">
                <a:solidFill>
                  <a:srgbClr val="0070C0"/>
                </a:solidFill>
                <a:latin typeface="Arial Black" panose="020B0A04020102020204" pitchFamily="34" charset="0"/>
              </a:rPr>
              <a:t>Works seamlessly on both legacy and modern Python versions.</a:t>
            </a:r>
          </a:p>
          <a:p>
            <a:r>
              <a:rPr lang="en-US" b="1" dirty="0">
                <a:solidFill>
                  <a:srgbClr val="0070C0"/>
                </a:solidFill>
                <a:latin typeface="Arial Black" panose="020B0A04020102020204" pitchFamily="34" charset="0"/>
              </a:rPr>
              <a:t>YAKE fallback ensures full reliability even without </a:t>
            </a:r>
            <a:r>
              <a:rPr lang="en-US" b="1" dirty="0" err="1">
                <a:solidFill>
                  <a:srgbClr val="0070C0"/>
                </a:solidFill>
                <a:latin typeface="Arial Black" panose="020B0A04020102020204" pitchFamily="34" charset="0"/>
              </a:rPr>
              <a:t>Gensim</a:t>
            </a:r>
            <a:r>
              <a:rPr lang="en-US" b="1" dirty="0">
                <a:solidFill>
                  <a:srgbClr val="0070C0"/>
                </a:solidFill>
                <a:latin typeface="Arial Black" panose="020B0A04020102020204" pitchFamily="34" charset="0"/>
              </a:rPr>
              <a:t>.</a:t>
            </a:r>
          </a:p>
          <a:p>
            <a:r>
              <a:rPr lang="en-US" b="1" dirty="0">
                <a:solidFill>
                  <a:srgbClr val="0070C0"/>
                </a:solidFill>
                <a:latin typeface="Arial Black" panose="020B0A04020102020204" pitchFamily="34" charset="0"/>
              </a:rPr>
              <a:t>Fast extraction with minimal processing time.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70C0"/>
                </a:solidFill>
                <a:latin typeface="Arial Black" panose="020B0A04020102020204" pitchFamily="34" charset="0"/>
              </a:rPr>
              <a:t>Key Advantages</a:t>
            </a:r>
          </a:p>
          <a:p>
            <a:r>
              <a:rPr lang="en-US" b="1" dirty="0">
                <a:solidFill>
                  <a:srgbClr val="0070C0"/>
                </a:solidFill>
                <a:latin typeface="Arial Black" panose="020B0A04020102020204" pitchFamily="34" charset="0"/>
              </a:rPr>
              <a:t>Simple and intuitive interface</a:t>
            </a:r>
          </a:p>
          <a:p>
            <a:r>
              <a:rPr lang="en-US" b="1" dirty="0">
                <a:solidFill>
                  <a:srgbClr val="0070C0"/>
                </a:solidFill>
                <a:latin typeface="Arial Black" panose="020B0A04020102020204" pitchFamily="34" charset="0"/>
              </a:rPr>
              <a:t>No training data needed</a:t>
            </a:r>
          </a:p>
          <a:p>
            <a:r>
              <a:rPr lang="en-US" b="1" dirty="0">
                <a:solidFill>
                  <a:srgbClr val="0070C0"/>
                </a:solidFill>
                <a:latin typeface="Arial Black" panose="020B0A04020102020204" pitchFamily="34" charset="0"/>
              </a:rPr>
              <a:t>Lightweight &amp; dependency-minimal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70C0"/>
                </a:solidFill>
                <a:latin typeface="Arial Black" panose="020B0A04020102020204" pitchFamily="34" charset="0"/>
              </a:rPr>
              <a:t>Works for multiple domains:</a:t>
            </a:r>
          </a:p>
          <a:p>
            <a:pPr lvl="1"/>
            <a:r>
              <a:rPr lang="en-US" b="1" dirty="0">
                <a:solidFill>
                  <a:srgbClr val="0070C0"/>
                </a:solidFill>
                <a:latin typeface="Arial Black" panose="020B0A04020102020204" pitchFamily="34" charset="0"/>
              </a:rPr>
              <a:t>Blogs</a:t>
            </a:r>
          </a:p>
          <a:p>
            <a:pPr lvl="1"/>
            <a:r>
              <a:rPr lang="en-US" b="1" dirty="0">
                <a:solidFill>
                  <a:srgbClr val="0070C0"/>
                </a:solidFill>
                <a:latin typeface="Arial Black" panose="020B0A04020102020204" pitchFamily="34" charset="0"/>
              </a:rPr>
              <a:t>News articles</a:t>
            </a:r>
          </a:p>
          <a:p>
            <a:pPr lvl="1"/>
            <a:r>
              <a:rPr lang="en-US" b="1" dirty="0">
                <a:solidFill>
                  <a:srgbClr val="0070C0"/>
                </a:solidFill>
                <a:latin typeface="Arial Black" panose="020B0A04020102020204" pitchFamily="34" charset="0"/>
              </a:rPr>
              <a:t>Research text</a:t>
            </a:r>
          </a:p>
          <a:p>
            <a:pPr lvl="1"/>
            <a:r>
              <a:rPr lang="en-US" b="1" dirty="0">
                <a:solidFill>
                  <a:srgbClr val="0070C0"/>
                </a:solidFill>
                <a:latin typeface="Arial Black" panose="020B0A04020102020204" pitchFamily="34" charset="0"/>
              </a:rPr>
              <a:t>Social media content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0046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77CB8-834B-574F-F0DB-7229C67C0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549" y="209006"/>
            <a:ext cx="10589622" cy="1053737"/>
          </a:xfrm>
        </p:spPr>
        <p:txBody>
          <a:bodyPr>
            <a:normAutofit/>
          </a:bodyPr>
          <a:lstStyle/>
          <a:p>
            <a:r>
              <a:rPr lang="en-IN" sz="4400" b="1" dirty="0">
                <a:latin typeface="Arial Black" panose="020B0A04020102020204" pitchFamily="34" charset="0"/>
              </a:rPr>
              <a:t>Conclusion &amp; 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7E992-822B-024C-AC13-B15C442C3D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183" y="1706880"/>
            <a:ext cx="10490500" cy="3667706"/>
          </a:xfrm>
        </p:spPr>
        <p:txBody>
          <a:bodyPr>
            <a:normAutofit fontScale="6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rgbClr val="00B050"/>
                </a:solidFill>
                <a:latin typeface="Arial Black" panose="020B0A04020102020204" pitchFamily="34" charset="0"/>
              </a:rPr>
              <a:t>Conclusion</a:t>
            </a:r>
          </a:p>
          <a:p>
            <a:r>
              <a:rPr lang="en-IN" b="1" dirty="0">
                <a:solidFill>
                  <a:srgbClr val="00B050"/>
                </a:solidFill>
                <a:latin typeface="Arial Black" panose="020B0A04020102020204" pitchFamily="34" charset="0"/>
              </a:rPr>
              <a:t>Successfully developed a user-friendly keyword extraction tool.</a:t>
            </a:r>
          </a:p>
          <a:p>
            <a:r>
              <a:rPr lang="en-IN" b="1" dirty="0">
                <a:solidFill>
                  <a:srgbClr val="00B050"/>
                </a:solidFill>
                <a:latin typeface="Arial Black" panose="020B0A04020102020204" pitchFamily="34" charset="0"/>
              </a:rPr>
              <a:t>Achieved high accuracy using a dual-method approach (</a:t>
            </a:r>
            <a:r>
              <a:rPr lang="en-IN" b="1" dirty="0" err="1">
                <a:solidFill>
                  <a:srgbClr val="00B050"/>
                </a:solidFill>
                <a:latin typeface="Arial Black" panose="020B0A04020102020204" pitchFamily="34" charset="0"/>
              </a:rPr>
              <a:t>Gensim</a:t>
            </a:r>
            <a:r>
              <a:rPr lang="en-IN" b="1" dirty="0">
                <a:solidFill>
                  <a:srgbClr val="00B050"/>
                </a:solidFill>
                <a:latin typeface="Arial Black" panose="020B0A04020102020204" pitchFamily="34" charset="0"/>
              </a:rPr>
              <a:t> + YAKE).</a:t>
            </a:r>
          </a:p>
          <a:p>
            <a:r>
              <a:rPr lang="en-IN" b="1" dirty="0">
                <a:solidFill>
                  <a:srgbClr val="00B050"/>
                </a:solidFill>
                <a:latin typeface="Arial Black" panose="020B0A04020102020204" pitchFamily="34" charset="0"/>
              </a:rPr>
              <a:t>Demonstrated real-time NLP processing through </a:t>
            </a:r>
            <a:r>
              <a:rPr lang="en-IN" b="1" dirty="0" err="1">
                <a:solidFill>
                  <a:srgbClr val="00B050"/>
                </a:solidFill>
                <a:latin typeface="Arial Black" panose="020B0A04020102020204" pitchFamily="34" charset="0"/>
              </a:rPr>
              <a:t>Streamlit</a:t>
            </a:r>
            <a:r>
              <a:rPr lang="en-IN" b="1" dirty="0">
                <a:solidFill>
                  <a:srgbClr val="00B050"/>
                </a:solidFill>
                <a:latin typeface="Arial Black" panose="020B0A04020102020204" pitchFamily="34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rgbClr val="00B050"/>
                </a:solidFill>
                <a:latin typeface="Arial Black" panose="020B0A04020102020204" pitchFamily="34" charset="0"/>
              </a:rPr>
              <a:t>Future Scope</a:t>
            </a:r>
          </a:p>
          <a:p>
            <a:r>
              <a:rPr lang="en-IN" b="1" dirty="0">
                <a:solidFill>
                  <a:srgbClr val="00B050"/>
                </a:solidFill>
                <a:latin typeface="Arial Black" panose="020B0A04020102020204" pitchFamily="34" charset="0"/>
              </a:rPr>
              <a:t>Add text summarization module.</a:t>
            </a:r>
          </a:p>
          <a:p>
            <a:r>
              <a:rPr lang="en-IN" b="1" dirty="0">
                <a:solidFill>
                  <a:srgbClr val="00B050"/>
                </a:solidFill>
                <a:latin typeface="Arial Black" panose="020B0A04020102020204" pitchFamily="34" charset="0"/>
              </a:rPr>
              <a:t>Support PDF/Text file uploads.</a:t>
            </a:r>
          </a:p>
          <a:p>
            <a:r>
              <a:rPr lang="en-IN" b="1" dirty="0">
                <a:solidFill>
                  <a:srgbClr val="00B050"/>
                </a:solidFill>
                <a:latin typeface="Arial Black" panose="020B0A04020102020204" pitchFamily="34" charset="0"/>
              </a:rPr>
              <a:t>Integrate advanced models like </a:t>
            </a:r>
            <a:r>
              <a:rPr lang="en-IN" b="1" dirty="0" err="1">
                <a:solidFill>
                  <a:srgbClr val="00B050"/>
                </a:solidFill>
                <a:latin typeface="Arial Black" panose="020B0A04020102020204" pitchFamily="34" charset="0"/>
              </a:rPr>
              <a:t>KeyBERT</a:t>
            </a:r>
            <a:r>
              <a:rPr lang="en-IN" b="1" dirty="0">
                <a:solidFill>
                  <a:srgbClr val="00B050"/>
                </a:solidFill>
                <a:latin typeface="Arial Black" panose="020B0A04020102020204" pitchFamily="34" charset="0"/>
              </a:rPr>
              <a:t> or BERT embeddings.</a:t>
            </a:r>
          </a:p>
          <a:p>
            <a:r>
              <a:rPr lang="en-IN" b="1" dirty="0">
                <a:solidFill>
                  <a:srgbClr val="00B050"/>
                </a:solidFill>
                <a:latin typeface="Arial Black" panose="020B0A04020102020204" pitchFamily="34" charset="0"/>
              </a:rPr>
              <a:t>Add multi-language support (Hindi, Spanish, Tamil, etc.).</a:t>
            </a:r>
          </a:p>
          <a:p>
            <a:r>
              <a:rPr lang="en-IN" b="1" dirty="0">
                <a:solidFill>
                  <a:srgbClr val="00B050"/>
                </a:solidFill>
                <a:latin typeface="Arial Black" panose="020B0A04020102020204" pitchFamily="34" charset="0"/>
              </a:rPr>
              <a:t>Deploy online using </a:t>
            </a:r>
            <a:r>
              <a:rPr lang="en-IN" b="1" dirty="0" err="1">
                <a:solidFill>
                  <a:srgbClr val="00B050"/>
                </a:solidFill>
                <a:latin typeface="Arial Black" panose="020B0A04020102020204" pitchFamily="34" charset="0"/>
              </a:rPr>
              <a:t>Streamlit</a:t>
            </a:r>
            <a:r>
              <a:rPr lang="en-IN" b="1" dirty="0">
                <a:solidFill>
                  <a:srgbClr val="00B050"/>
                </a:solidFill>
                <a:latin typeface="Arial Black" panose="020B0A04020102020204" pitchFamily="34" charset="0"/>
              </a:rPr>
              <a:t> Cloud / Render.</a:t>
            </a:r>
          </a:p>
          <a:p>
            <a:r>
              <a:rPr lang="en-IN" b="1" dirty="0">
                <a:solidFill>
                  <a:srgbClr val="00B050"/>
                </a:solidFill>
                <a:latin typeface="Arial Black" panose="020B0A04020102020204" pitchFamily="34" charset="0"/>
              </a:rPr>
              <a:t>Add visual keyword cloud output.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63326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6292F55-086D-C9AF-E40E-C59A7679CF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970201" y="940524"/>
            <a:ext cx="4025447" cy="4025447"/>
          </a:xfr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65B78EF-7E2D-71A7-FDD4-EA665FC9A2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547150" y="1062445"/>
            <a:ext cx="4622855" cy="3466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29695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F3CD65D-61A5-43C9-A837-6EC73C7DA8A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31F006B4-A9E1-4F39-85C8-FB836F9193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6377351-63A1-4C2E-8C9A-66CDD70F16A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TM04033927[[fn=Main Event]]</Template>
  <TotalTime>50</TotalTime>
  <Words>430</Words>
  <Application>Microsoft Office PowerPoint</Application>
  <PresentationFormat>Widescreen</PresentationFormat>
  <Paragraphs>85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Arial Black</vt:lpstr>
      <vt:lpstr>Baskerville Old Face</vt:lpstr>
      <vt:lpstr>Calibri</vt:lpstr>
      <vt:lpstr>Impact</vt:lpstr>
      <vt:lpstr>Wingdings</vt:lpstr>
      <vt:lpstr>Main Event</vt:lpstr>
      <vt:lpstr>  Keyword Extraction Tool (Streamlit + Gensim/YAKE)  </vt:lpstr>
      <vt:lpstr>PowerPoint Presentation</vt:lpstr>
      <vt:lpstr>Problem Statement &amp; Objectives</vt:lpstr>
      <vt:lpstr>Proposed Solution &amp; Workflow</vt:lpstr>
      <vt:lpstr>Dataset &amp; Methodology</vt:lpstr>
      <vt:lpstr>Technologies Used</vt:lpstr>
      <vt:lpstr>Results &amp; Findings</vt:lpstr>
      <vt:lpstr>Conclusion &amp; 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Ankit Mittal</dc:creator>
  <cp:lastModifiedBy>Ankit Mittal</cp:lastModifiedBy>
  <cp:revision>2</cp:revision>
  <dcterms:created xsi:type="dcterms:W3CDTF">2025-11-30T15:55:00Z</dcterms:created>
  <dcterms:modified xsi:type="dcterms:W3CDTF">2025-12-01T08:23:46Z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